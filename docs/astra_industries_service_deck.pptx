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80B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778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778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inematic_futuristic_tech_workbench_scene_in_a_batch_1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6656" y="493776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3DFF9E"/>
          </a:solidFill>
          <a:ln w="12700">
            <a:solidFill>
              <a:srgbClr val="3DFF9E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8096" y="562356"/>
            <a:ext cx="2148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GPT-6 ASTRA HACKATHON NYC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76656" y="1207008"/>
            <a:ext cx="397764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Astra Industries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94944" y="1938528"/>
            <a:ext cx="40233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3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Open-core spatial hardware service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94944" y="2624328"/>
            <a:ext cx="3977640" cy="1389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82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hosted and local deployment layer for Forma-OSS: import hardware projects and STEP models, arrange them in rooms, animate workflows, and turn prototype chaos into reviewable physical plans.</a:t>
            </a:r>
            <a:endParaRPr lang="en-US" sz="1820" dirty="0"/>
          </a:p>
        </p:txBody>
      </p:sp>
      <p:sp>
        <p:nvSpPr>
          <p:cNvPr id="8" name="Text 5"/>
          <p:cNvSpPr/>
          <p:nvPr/>
        </p:nvSpPr>
        <p:spPr>
          <a:xfrm>
            <a:off x="713232" y="5230368"/>
            <a:ext cx="370332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4C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 makes machines computable.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B4C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Astra makes their environment computable.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640080" y="6473952"/>
            <a:ext cx="106527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7683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CAID Technologies • Astra Industries • Service deck • September 10, 2026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778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B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93192"/>
            <a:ext cx="76809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DF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MODEL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850392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 open-source engine with paid deployment paths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344168"/>
            <a:ext cx="80010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B4C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 local use builds trust. Hosted infrastructure and expert deployments turn it into a business.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80760" y="2322576"/>
            <a:ext cx="0" cy="2816352"/>
          </a:xfrm>
          <a:prstGeom prst="line">
            <a:avLst/>
          </a:prstGeom>
          <a:noFill/>
          <a:ln w="15240">
            <a:solidFill>
              <a:srgbClr val="263348">
                <a:alpha val="9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07792" y="3968496"/>
            <a:ext cx="6373368" cy="0"/>
          </a:xfrm>
          <a:prstGeom prst="line">
            <a:avLst/>
          </a:prstGeom>
          <a:noFill/>
          <a:ln w="15240">
            <a:solidFill>
              <a:srgbClr val="263348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70832" y="1920240"/>
            <a:ext cx="3419856" cy="941832"/>
          </a:xfrm>
          <a:prstGeom prst="roundRect">
            <a:avLst>
              <a:gd name="adj" fmla="val 7767"/>
            </a:avLst>
          </a:prstGeom>
          <a:solidFill>
            <a:srgbClr val="0D1320"/>
          </a:solidFill>
          <a:ln w="13970">
            <a:solidFill>
              <a:srgbClr val="3DFF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35424" y="2066544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3DF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Forma-OSS core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535424" y="2377440"/>
            <a:ext cx="3090672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B4C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hardware design engine: prompts, Hardware IR, BOMs, wiring, validation, generated assets.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804672" y="3529584"/>
            <a:ext cx="3072384" cy="1078992"/>
          </a:xfrm>
          <a:prstGeom prst="roundRect">
            <a:avLst>
              <a:gd name="adj" fmla="val 6780"/>
            </a:avLst>
          </a:prstGeom>
          <a:solidFill>
            <a:srgbClr val="0D1320"/>
          </a:solidFill>
          <a:ln w="13970">
            <a:solidFill>
              <a:srgbClr val="53E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36758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53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 local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69264" y="3986784"/>
            <a:ext cx="274320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B4C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Makers, students, and labs can self-host and keep full control of data.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4553712" y="3529584"/>
            <a:ext cx="3072384" cy="1078992"/>
          </a:xfrm>
          <a:prstGeom prst="roundRect">
            <a:avLst>
              <a:gd name="adj" fmla="val 6780"/>
            </a:avLst>
          </a:prstGeom>
          <a:solidFill>
            <a:srgbClr val="0D1320"/>
          </a:solidFill>
          <a:ln w="13970">
            <a:solidFill>
              <a:srgbClr val="FFB8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8304" y="36758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B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Astra Cloud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718304" y="3986784"/>
            <a:ext cx="274320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B4C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Hosted compute, collaboration, storage, asset libraries, project history, and no setup friction.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8302752" y="3529584"/>
            <a:ext cx="3072384" cy="1078992"/>
          </a:xfrm>
          <a:prstGeom prst="roundRect">
            <a:avLst>
              <a:gd name="adj" fmla="val 6780"/>
            </a:avLst>
          </a:prstGeom>
          <a:solidFill>
            <a:srgbClr val="0D1320"/>
          </a:solidFill>
          <a:ln w="13970">
            <a:solidFill>
              <a:srgbClr val="5B7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67344" y="36758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5B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deployment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467344" y="3986784"/>
            <a:ext cx="274320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B4C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On-prem/local server setup, CAD/PLM/data integration, custom agents, training, support.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1078992" y="5230368"/>
            <a:ext cx="10003536" cy="566928"/>
          </a:xfrm>
          <a:prstGeom prst="roundRect">
            <a:avLst>
              <a:gd name="adj" fmla="val 12903"/>
            </a:avLst>
          </a:prstGeom>
          <a:solidFill>
            <a:srgbClr val="102033">
              <a:alpha val="96000"/>
            </a:srgbClr>
          </a:solidFill>
          <a:ln w="12700">
            <a:solidFill>
              <a:srgbClr val="3DFF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98448" y="5413248"/>
            <a:ext cx="946404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comes from convenience, compute, collaboration, integrations, and consulting — not from blocking the open-source path.</a:t>
            </a:r>
            <a:endParaRPr lang="en-US" sz="138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106527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7683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Positioning: Astra Industries is the commercial service layer around Forma-powered spatial hardware workflows.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778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split_scene_concept_illustration_batch_4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11480"/>
            <a:ext cx="5029200" cy="5532120"/>
          </a:xfrm>
          <a:prstGeom prst="rect">
            <a:avLst/>
          </a:prstGeom>
          <a:solidFill>
            <a:srgbClr val="050A14">
              <a:alpha val="98000"/>
            </a:srgbClr>
          </a:solidFill>
          <a:ln w="12700">
            <a:solidFill>
              <a:srgbClr val="26334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8096" y="786384"/>
            <a:ext cx="11887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F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68096" y="1170432"/>
            <a:ext cx="4343400" cy="868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Hardware teams pay for fragmented context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22960" y="2423160"/>
            <a:ext cx="406908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3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scattered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41248" y="2706624"/>
            <a:ext cx="404164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B4C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CAD, BOMs, supplier notes, wiring, photos, floor plans, and tribal knowledge do not live in one computable system.</a:t>
            </a:r>
            <a:endParaRPr lang="en-US" sz="1030" dirty="0"/>
          </a:p>
        </p:txBody>
      </p:sp>
      <p:sp>
        <p:nvSpPr>
          <p:cNvPr id="8" name="Text 5"/>
          <p:cNvSpPr/>
          <p:nvPr/>
        </p:nvSpPr>
        <p:spPr>
          <a:xfrm>
            <a:off x="822960" y="3319272"/>
            <a:ext cx="406908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B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Space is checked too late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1248" y="3602736"/>
            <a:ext cx="404164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B4C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discover clearance, routing, workflow, and safety issues after parts are ordered or equipment is moved.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822960" y="4215384"/>
            <a:ext cx="406908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DF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Expertise does not scale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41248" y="4498848"/>
            <a:ext cx="404164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B4C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small shop often needs a mechanical engineer, fabricator, facilities planner, and teacher in the same room.</a:t>
            </a:r>
            <a:endParaRPr lang="en-US" sz="1030" dirty="0"/>
          </a:p>
        </p:txBody>
      </p:sp>
      <p:sp>
        <p:nvSpPr>
          <p:cNvPr id="12" name="Text 9"/>
          <p:cNvSpPr/>
          <p:nvPr/>
        </p:nvSpPr>
        <p:spPr>
          <a:xfrm>
            <a:off x="822960" y="5440680"/>
            <a:ext cx="40690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Astra turns those fragments into a spatial plan people can inspect before physical work begins.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640080" y="6473952"/>
            <a:ext cx="106527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7683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claim: reduce invisible handoff risk between digital design and real fabrication spaces.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778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B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93192"/>
            <a:ext cx="76809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DF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850392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customers actually buy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344168"/>
            <a:ext cx="80010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B4C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software is the wedge. The durable value is an organization-specific physical knowledge layer.</a:t>
            </a:r>
            <a:endParaRPr lang="en-US" sz="1350" dirty="0"/>
          </a:p>
        </p:txBody>
      </p:sp>
      <p:pic>
        <p:nvPicPr>
          <p:cNvPr id="5" name="Image 0" descr="/mnt/data/a_wide_high_angle_cinematic_interior_view_of_a_m_batch_3_dark.png">    </p:cNvPr>
          <p:cNvPicPr>
            <a:picLocks noChangeAspect="1"/>
          </p:cNvPicPr>
          <p:nvPr/>
        </p:nvPicPr>
        <p:blipFill>
          <a:blip r:embed="rId1"/>
          <a:srcRect l="10791" r="10791" t="0" b="0"/>
          <a:stretch/>
        </p:blipFill>
        <p:spPr>
          <a:xfrm>
            <a:off x="6181344" y="1874520"/>
            <a:ext cx="5376672" cy="3858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6384" y="1938528"/>
            <a:ext cx="4498848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DF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Hosted workspaces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4672" y="2240280"/>
            <a:ext cx="4718304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4C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setup: project import, scene storage, collaboration, and exportable review packages.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86384" y="2871216"/>
            <a:ext cx="4498848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3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deployments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172968"/>
            <a:ext cx="4718304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4C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on a lab workstation, mini-server, or private infrastructure when data cannot leave the building.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86384" y="3803904"/>
            <a:ext cx="4498848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B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Consulting + configuration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04672" y="4105656"/>
            <a:ext cx="4718304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4C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 approved parts, suppliers, lab equipment, floor plans, safety constraints, and workflows.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86384" y="4736592"/>
            <a:ext cx="4498848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B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integrations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04672" y="5038344"/>
            <a:ext cx="4718304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4C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CAD/STEP libraries, internal docs, PLM habits, tickets, and future agent workflows.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355080" y="5010912"/>
            <a:ext cx="480974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Consulting is not “installation help.” It is converting a customer’s real fabrication environment into reusable, agent-ready context.</a:t>
            </a:r>
            <a:endParaRPr lang="en-US" sz="1360" dirty="0"/>
          </a:p>
        </p:txBody>
      </p:sp>
      <p:sp>
        <p:nvSpPr>
          <p:cNvPr id="15" name="Text 12"/>
          <p:cNvSpPr/>
          <p:nvPr/>
        </p:nvSpPr>
        <p:spPr>
          <a:xfrm>
            <a:off x="640080" y="6473952"/>
            <a:ext cx="106527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7683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framing: open core for adoption, cloud for speed, private deployments for trust and enterprise fit.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778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natural_light_workshop_makerspace_scene_a_batch_2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87952"/>
            <a:ext cx="12191695" cy="1700784"/>
          </a:xfrm>
          <a:prstGeom prst="rect">
            <a:avLst/>
          </a:prstGeom>
          <a:solidFill>
            <a:srgbClr val="040914">
              <a:alpha val="97000"/>
            </a:srgbClr>
          </a:solidFill>
          <a:ln w="12700">
            <a:solidFill>
              <a:srgbClr val="040914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93192"/>
            <a:ext cx="76809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DF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DEMOGRAPHIC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40080" y="658368"/>
            <a:ext cx="850392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Beachhead: small hardware teams without industrial engineering staff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58368" y="1344168"/>
            <a:ext cx="80010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B4C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build real things, but their planning stack is still spreadsheets, screenshots, CAD files, and people explaining context verbally.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13232" y="4517136"/>
            <a:ext cx="23317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DF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Robotics startups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13232" y="4837176"/>
            <a:ext cx="23317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4C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fast cell layouts, robot reach reviews, and investor/demo visuals.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529584" y="4517136"/>
            <a:ext cx="23317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3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University + research labs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529584" y="4837176"/>
            <a:ext cx="23317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4C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reusable lab knowledge, training, and safer equipment planning.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345936" y="4517136"/>
            <a:ext cx="23317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B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Makerspaces + STEM programs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45936" y="4837176"/>
            <a:ext cx="23317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4C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teachable build plans that new users can understand visually.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9162288" y="4517136"/>
            <a:ext cx="23317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B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shops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9162288" y="4837176"/>
            <a:ext cx="23317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4C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low-cost layout review before ordering fixtures or moving tools.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40080" y="6473952"/>
            <a:ext cx="106527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7683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Beachhead wedge: teams that must explain physical systems quickly, safely, and repeatedly.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778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B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93192"/>
            <a:ext cx="76809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DF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WORKFLOW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850392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generated hardware to deployed workspace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344168"/>
            <a:ext cx="80010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B4C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Astra is a service workflow, not just a viewer. Each step creates customer-locking knowledge assets.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313432" y="2779776"/>
            <a:ext cx="594360" cy="0"/>
          </a:xfrm>
          <a:prstGeom prst="line">
            <a:avLst/>
          </a:prstGeom>
          <a:noFill/>
          <a:ln w="17780">
            <a:solidFill>
              <a:srgbClr val="3DFF9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9704" y="2779776"/>
            <a:ext cx="594360" cy="0"/>
          </a:xfrm>
          <a:prstGeom prst="line">
            <a:avLst/>
          </a:prstGeom>
          <a:noFill/>
          <a:ln w="17780">
            <a:solidFill>
              <a:srgbClr val="53E7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65976" y="2779776"/>
            <a:ext cx="594360" cy="0"/>
          </a:xfrm>
          <a:prstGeom prst="line">
            <a:avLst/>
          </a:prstGeom>
          <a:noFill/>
          <a:ln w="17780">
            <a:solidFill>
              <a:srgbClr val="FFB8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42248" y="2779776"/>
            <a:ext cx="594360" cy="0"/>
          </a:xfrm>
          <a:prstGeom prst="line">
            <a:avLst/>
          </a:prstGeom>
          <a:noFill/>
          <a:ln w="17780">
            <a:solidFill>
              <a:srgbClr val="5B7C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2231136"/>
            <a:ext cx="1417320" cy="1243584"/>
          </a:xfrm>
          <a:prstGeom prst="roundRect">
            <a:avLst>
              <a:gd name="adj" fmla="val 5882"/>
            </a:avLst>
          </a:prstGeom>
          <a:solidFill>
            <a:srgbClr val="0D1320"/>
          </a:solidFill>
          <a:ln w="13970">
            <a:solidFill>
              <a:srgbClr val="3DFF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39572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DF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42416" y="2679192"/>
            <a:ext cx="1060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42416" y="2962656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B4C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 project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B4C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STEP assets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3072384" y="2231136"/>
            <a:ext cx="1417320" cy="1243584"/>
          </a:xfrm>
          <a:prstGeom prst="roundRect">
            <a:avLst>
              <a:gd name="adj" fmla="val 5882"/>
            </a:avLst>
          </a:prstGeom>
          <a:solidFill>
            <a:srgbClr val="0D1320"/>
          </a:solidFill>
          <a:ln w="13970">
            <a:solidFill>
              <a:srgbClr val="53E7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9544" y="239572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3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18688" y="2679192"/>
            <a:ext cx="1060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18688" y="2962656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B4C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Rooms, tools,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B4C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parts, constraints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5248656" y="2231136"/>
            <a:ext cx="1417320" cy="1243584"/>
          </a:xfrm>
          <a:prstGeom prst="roundRect">
            <a:avLst>
              <a:gd name="adj" fmla="val 5882"/>
            </a:avLst>
          </a:prstGeom>
          <a:solidFill>
            <a:srgbClr val="0D1320"/>
          </a:solidFill>
          <a:ln w="13970">
            <a:solidFill>
              <a:srgbClr val="FFB8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85816" y="239572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B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94960" y="2679192"/>
            <a:ext cx="1060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Arrange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94960" y="2962656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B4C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zones,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B4C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reach, clearance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7424928" y="2231136"/>
            <a:ext cx="1417320" cy="1243584"/>
          </a:xfrm>
          <a:prstGeom prst="roundRect">
            <a:avLst>
              <a:gd name="adj" fmla="val 5882"/>
            </a:avLst>
          </a:prstGeom>
          <a:solidFill>
            <a:srgbClr val="0D1320"/>
          </a:solidFill>
          <a:ln w="13970">
            <a:solidFill>
              <a:srgbClr val="5B7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62088" y="239572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B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571232" y="2679192"/>
            <a:ext cx="1060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571232" y="2962656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B4C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Motion preview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B4C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process flow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9601200" y="2231136"/>
            <a:ext cx="1417320" cy="1243584"/>
          </a:xfrm>
          <a:prstGeom prst="roundRect">
            <a:avLst>
              <a:gd name="adj" fmla="val 5882"/>
            </a:avLst>
          </a:prstGeom>
          <a:solidFill>
            <a:srgbClr val="0D1320"/>
          </a:solidFill>
          <a:ln w="13970">
            <a:solidFill>
              <a:srgbClr val="FF5F6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38360" y="239572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5F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747504" y="2679192"/>
            <a:ext cx="1060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747504" y="2962656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B4C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package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B4C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revision input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1051560" y="4352544"/>
            <a:ext cx="10058400" cy="868680"/>
          </a:xfrm>
          <a:prstGeom prst="roundRect">
            <a:avLst>
              <a:gd name="adj" fmla="val 8421"/>
            </a:avLst>
          </a:prstGeom>
          <a:solidFill>
            <a:srgbClr val="102033">
              <a:alpha val="97000"/>
            </a:srgbClr>
          </a:solidFill>
          <a:ln w="12700">
            <a:solidFill>
              <a:srgbClr val="3DFF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53312" y="4626864"/>
            <a:ext cx="9491472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repeatable asset is the customer’s physical context: approved components, room geometry, equipment positions, safety rules, supplier choices, and operating assumptions.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0080" y="6473952"/>
            <a:ext cx="106527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7683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storyline: generated hardware does not stop at files; it becomes a spatial operating plan.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778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high_angle_cinematic_interior_view_of_a_m_batch_3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493776"/>
            <a:ext cx="5285232" cy="5486400"/>
          </a:xfrm>
          <a:prstGeom prst="rect">
            <a:avLst/>
          </a:prstGeom>
          <a:solidFill>
            <a:srgbClr val="050A14"/>
          </a:solidFill>
          <a:ln w="12700">
            <a:solidFill>
              <a:srgbClr val="26334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41248" y="841248"/>
            <a:ext cx="192024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F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41248" y="1225296"/>
            <a:ext cx="4617720" cy="9509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Software has an IDE. Hardware needs one too.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868680" y="2505456"/>
            <a:ext cx="4480560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B4C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coding agents work because repositories are structured: files, dependencies, tests, builds, runtime. Hardware agents need the equivalent for the physical world.</a:t>
            </a:r>
            <a:endParaRPr lang="en-US" sz="1520" dirty="0"/>
          </a:p>
        </p:txBody>
      </p:sp>
      <p:sp>
        <p:nvSpPr>
          <p:cNvPr id="7" name="Text 4"/>
          <p:cNvSpPr/>
          <p:nvPr/>
        </p:nvSpPr>
        <p:spPr>
          <a:xfrm>
            <a:off x="868680" y="3703320"/>
            <a:ext cx="4370832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Astra creates that missing context layer: machine → components → room → process → feedback.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868680" y="4828032"/>
            <a:ext cx="434340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3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 is not just prettier CAD. It is a shared, computable workspace for designing physical systems.</a:t>
            </a:r>
            <a:endParaRPr lang="en-US" sz="1380" dirty="0"/>
          </a:p>
        </p:txBody>
      </p:sp>
      <p:sp>
        <p:nvSpPr>
          <p:cNvPr id="9" name="Text 6"/>
          <p:cNvSpPr/>
          <p:nvPr/>
        </p:nvSpPr>
        <p:spPr>
          <a:xfrm>
            <a:off x="640080" y="6473952"/>
            <a:ext cx="106527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7683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Long-term thesis: an operating system for designing the physical world.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778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B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93192"/>
            <a:ext cx="76809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DF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GO-TO-MARKET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850392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 pilots that prove the service loop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344168"/>
            <a:ext cx="80010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B4C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hackathon demo should sell the first pilot: bring us your machine, room, and constraints; we return a working spatial plan.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59536" y="1920240"/>
            <a:ext cx="31089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3DF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1: lab / makerspace</a:t>
            </a:r>
            <a:endParaRPr lang="en-US" sz="1580" dirty="0"/>
          </a:p>
        </p:txBody>
      </p:sp>
      <p:sp>
        <p:nvSpPr>
          <p:cNvPr id="6" name="Text 4"/>
          <p:cNvSpPr/>
          <p:nvPr/>
        </p:nvSpPr>
        <p:spPr>
          <a:xfrm>
            <a:off x="877824" y="2231136"/>
            <a:ext cx="52120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B4C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one room, import existing machines, create reusable training scenes, export build reviews.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859536" y="2898648"/>
            <a:ext cx="31089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53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2: robotics team</a:t>
            </a:r>
            <a:endParaRPr lang="en-US" sz="1580" dirty="0"/>
          </a:p>
        </p:txBody>
      </p:sp>
      <p:sp>
        <p:nvSpPr>
          <p:cNvPr id="8" name="Text 6"/>
          <p:cNvSpPr/>
          <p:nvPr/>
        </p:nvSpPr>
        <p:spPr>
          <a:xfrm>
            <a:off x="877824" y="3209544"/>
            <a:ext cx="52120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B4C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 robot/project assets, arrange a test cell, preview motion, capture clearance and safety feedback.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859536" y="3877056"/>
            <a:ext cx="31089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FFB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3: prototype shop</a:t>
            </a:r>
            <a:endParaRPr lang="en-US" sz="1580" dirty="0"/>
          </a:p>
        </p:txBody>
      </p:sp>
      <p:sp>
        <p:nvSpPr>
          <p:cNvPr id="10" name="Text 8"/>
          <p:cNvSpPr/>
          <p:nvPr/>
        </p:nvSpPr>
        <p:spPr>
          <a:xfrm>
            <a:off x="877824" y="4187952"/>
            <a:ext cx="52120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B4C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 preferred components and fixtures, plan a small manufacturing cell, produce customer-facing visuals.</a:t>
            </a:r>
            <a:endParaRPr lang="en-US" sz="1080" dirty="0"/>
          </a:p>
        </p:txBody>
      </p:sp>
      <p:pic>
        <p:nvPicPr>
          <p:cNvPr id="11" name="Image 0" descr="/mnt/data/a_wide_cinematic_split_scene_concept_illustration_batch_4_dark.png">    </p:cNvPr>
          <p:cNvPicPr>
            <a:picLocks noChangeAspect="1"/>
          </p:cNvPicPr>
          <p:nvPr/>
        </p:nvPicPr>
        <p:blipFill>
          <a:blip r:embed="rId1"/>
          <a:srcRect l="4845" r="4845" t="0" b="0"/>
          <a:stretch/>
        </p:blipFill>
        <p:spPr>
          <a:xfrm>
            <a:off x="6473952" y="1874520"/>
            <a:ext cx="5047488" cy="314553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14400" y="5349240"/>
            <a:ext cx="10314432" cy="493776"/>
          </a:xfrm>
          <a:prstGeom prst="roundRect">
            <a:avLst>
              <a:gd name="adj" fmla="val 14815"/>
            </a:avLst>
          </a:prstGeom>
          <a:solidFill>
            <a:srgbClr val="102033">
              <a:alpha val="96000"/>
            </a:srgbClr>
          </a:solidFill>
          <a:ln w="12700">
            <a:solidFill>
              <a:srgbClr val="3DFF9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33856" y="5504688"/>
            <a:ext cx="985723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Ask: introductions to NYC labs, robotics programs, makerspaces, small manufacturers, and hardware teams that need spatial planning now.</a:t>
            </a:r>
            <a:endParaRPr lang="en-US" sz="1330" dirty="0"/>
          </a:p>
        </p:txBody>
      </p:sp>
      <p:sp>
        <p:nvSpPr>
          <p:cNvPr id="14" name="Text 11"/>
          <p:cNvSpPr/>
          <p:nvPr/>
        </p:nvSpPr>
        <p:spPr>
          <a:xfrm>
            <a:off x="640080" y="6473952"/>
            <a:ext cx="106527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7683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metric: one customer-specific environment running locally or hosted, with a reusable asset library and exportable review package.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778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inematic_futuristic_tech_workbench_scene_in_a_batch_1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4944" y="676656"/>
            <a:ext cx="18288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F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close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76656" y="1078992"/>
            <a:ext cx="7909560" cy="10789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Astra Industries turns hardware design into a serviceable physical-world workflow.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86384" y="28529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DF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builders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2468880" y="2862072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B4C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 local open-source path</a:t>
            </a:r>
            <a:endParaRPr lang="en-US" sz="1520" dirty="0"/>
          </a:p>
        </p:txBody>
      </p:sp>
      <p:sp>
        <p:nvSpPr>
          <p:cNvPr id="7" name="Text 4"/>
          <p:cNvSpPr/>
          <p:nvPr/>
        </p:nvSpPr>
        <p:spPr>
          <a:xfrm>
            <a:off x="786384" y="35112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3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teams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2468880" y="3520440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B4C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hosted cloud workspace</a:t>
            </a:r>
            <a:endParaRPr lang="en-US" sz="1520" dirty="0"/>
          </a:p>
        </p:txBody>
      </p:sp>
      <p:sp>
        <p:nvSpPr>
          <p:cNvPr id="9" name="Text 6"/>
          <p:cNvSpPr/>
          <p:nvPr/>
        </p:nvSpPr>
        <p:spPr>
          <a:xfrm>
            <a:off x="786384" y="416966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B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organizations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2468880" y="4178808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B4C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deployments + consulting</a:t>
            </a:r>
            <a:endParaRPr lang="en-US" sz="1520" dirty="0"/>
          </a:p>
        </p:txBody>
      </p:sp>
      <p:sp>
        <p:nvSpPr>
          <p:cNvPr id="11" name="Shape 8"/>
          <p:cNvSpPr/>
          <p:nvPr/>
        </p:nvSpPr>
        <p:spPr>
          <a:xfrm>
            <a:off x="713232" y="5321808"/>
            <a:ext cx="5806440" cy="566928"/>
          </a:xfrm>
          <a:prstGeom prst="roundRect">
            <a:avLst>
              <a:gd name="adj" fmla="val 12903"/>
            </a:avLst>
          </a:prstGeom>
          <a:solidFill>
            <a:srgbClr val="102033">
              <a:alpha val="96000"/>
            </a:srgbClr>
          </a:solidFill>
          <a:ln w="12700">
            <a:solidFill>
              <a:srgbClr val="3DFF9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5504688"/>
            <a:ext cx="534924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pitch: bring us your hardware system. We make it computable, spatial, and reviewable.</a:t>
            </a:r>
            <a:endParaRPr lang="en-US" sz="1370" dirty="0"/>
          </a:p>
        </p:txBody>
      </p:sp>
      <p:sp>
        <p:nvSpPr>
          <p:cNvPr id="13" name="Text 10"/>
          <p:cNvSpPr/>
          <p:nvPr/>
        </p:nvSpPr>
        <p:spPr>
          <a:xfrm>
            <a:off x="640080" y="6473952"/>
            <a:ext cx="106527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7683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Astra Industries • Built on Forma-OSS • CAID Technologies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D778E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CAID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Astra Industries — Forma-powered spatial hardware service</dc:title>
  <dc:subject>Astra Industries service deck for GPT-6 Astra Hackathon NYC</dc:subject>
  <dc:creator>CAID Technologies</dc:creator>
  <cp:lastModifiedBy>CAID Technologies</cp:lastModifiedBy>
  <cp:revision>1</cp:revision>
  <dcterms:created xsi:type="dcterms:W3CDTF">2026-09-10T20:48:57Z</dcterms:created>
  <dcterms:modified xsi:type="dcterms:W3CDTF">2026-09-10T20:48:57Z</dcterms:modified>
</cp:coreProperties>
</file>